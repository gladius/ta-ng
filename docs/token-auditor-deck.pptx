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34A6A-0F79-44C3-8127-7530B2C6BAFB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52563-9AFB-46B2-9662-018DDF9C84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932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_distinct actually works — two steps, only the first is a byte compare:</a:t>
            </a:r>
          </a:p>
          <a:p>
            <a:endParaRPr/>
          </a:p>
          <a:p>
            <a:r>
              <a:t>1. FIND THE SHARED SKELETON — byte-exact, at line granularity. Split each call's full input into lines; keep the lines byte-identical across EVERY call in the bucket. That is the fixed skeleton (the system config / template). Pure byte comparison.</a:t>
            </a:r>
          </a:p>
          <a:p>
            <a:endParaRPr/>
          </a:p>
          <a:p>
            <a:r>
              <a:t>2. DEDUP THE PER-CALL REMAINDER — fuzzy, by word overlap. For each call take the lines NOT in the skeleton (the per-call variable), turn it into a SET OF WORDS, and treat two calls as the same input when their word sets overlap &gt;= 80% (Jaccard). This MERGES near-duplicates ("refund order 12" vs "...order 12 please") and keeps genuinely different tickets apart. Works from one word up to a paragraph. Deterministic — no embeddings, no ML, no semantics.</a:t>
            </a:r>
          </a:p>
          <a:p>
            <a:endParaRPr/>
          </a:p>
          <a:p>
            <a:r>
              <a:t>WHY word-overlap and not byte compare on the remainder: an exact compare counts every trivially different call as new (a trailing space, a reworded near-dup) and wastes the sample budget; a 3-gram/phrase compare has no shingles for a one-word input, so it falls back to the whole prompt and collapses a simple classifier to 1 input — a false SAFE. Word-set is robust across the whole range.</a:t>
            </a:r>
          </a:p>
          <a:p>
            <a:endParaRPr/>
          </a:p>
          <a:p>
            <a:r>
              <a:t>SAFE BIAS: when we can't tell a real variation from noise (a session id), we keep it. Over-sampling a redundant real input wastes one call; missing a real variation would call a change safe on an input that never exercised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An auditor for agent token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It reads your agents' recorded traffic, finds spend that can be removed, writes the change itself, and proves the agent still behaves the same before claiming a saving.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04288"/>
            <a:ext cx="6053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E4030"/>
                </a:solidFill>
                <a:latin typeface="Consolas"/>
              </a:rPr>
              <a:t>THE GAP IT CLOSES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15184"/>
            <a:ext cx="60533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101B1A"/>
                </a:solidFill>
                <a:latin typeface="Segoe UI"/>
              </a:rPr>
              <a:t>Cost dashboards report what you spent. They cannot tell you what was waste — because a cost is only waste if you can remove it without breaking the agent, and that is a behavioural question, not an accounting one.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56664"/>
                </a:solidFill>
                <a:latin typeface="Segoe UI"/>
              </a:rPr>
              <a:t>So the finding lands on an engineer's desk as “this looks expensive”, and nothing happens. Nobody edits a working production prompt on the strength of an estimate.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24528"/>
            <a:ext cx="6053328" cy="1298448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4224528"/>
            <a:ext cx="31750" cy="1298448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4425696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101B1A"/>
                </a:solidFill>
                <a:latin typeface="Georgia"/>
              </a:rPr>
              <a:t>Don't judge what you can't prove.</a:t>
            </a:r>
          </a:p>
          <a:p>
            <a:pPr algn="l">
              <a:spcAft>
                <a:spcPts val="700"/>
              </a:spcAft>
            </a:pPr>
            <a:r>
              <a:rPr sz="1000" b="0">
                <a:solidFill>
                  <a:srgbClr val="556664"/>
                </a:solidFill>
                <a:latin typeface="Segoe UI"/>
              </a:rPr>
              <a:t>Every dollar on the report survived a live experiment against the real provider, using your own recorded traffic. Anything it cannot prove is reported as zero.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2592" y="2304288"/>
            <a:ext cx="9525" cy="3364992"/>
          </a:xfrm>
          <a:prstGeom prst="rect">
            <a:avLst/>
          </a:prstGeom>
          <a:solidFill>
            <a:srgbClr val="D2D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88352" y="2304288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WHAT IT DOES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88352" y="2651760"/>
            <a:ext cx="274320" cy="2540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8352" y="2743200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B6B62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706624"/>
            <a:ext cx="36393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1B1A"/>
                </a:solidFill>
                <a:latin typeface="Segoe UI"/>
              </a:rPr>
              <a:t>Observe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Recorded traffic from your tracing platform. Read-only.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3438144"/>
            <a:ext cx="274320" cy="2540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88352" y="3529584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B6B62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493008"/>
            <a:ext cx="36393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1B1A"/>
                </a:solidFill>
                <a:latin typeface="Segoe UI"/>
              </a:rPr>
              <a:t>Detect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Byte-compare and price every call-site. Free, deterministic, seconds.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4224528"/>
            <a:ext cx="274320" cy="2540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88352" y="431596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B6B62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279392"/>
            <a:ext cx="36393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1B1A"/>
                </a:solidFill>
                <a:latin typeface="Segoe UI"/>
              </a:rPr>
              <a:t>Produce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An AI writes the candidate fix — a reordered prompt, a cheaper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8352" y="5010912"/>
            <a:ext cx="274320" cy="2540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88352" y="510235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B6B62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065776"/>
            <a:ext cx="36393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1B1A"/>
                </a:solidFill>
                <a:latin typeface="Segoe UI"/>
              </a:rPr>
              <a:t>Prove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Re-run it live on the real provider and try to break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888736"/>
            <a:ext cx="502920" cy="31750"/>
          </a:xfrm>
          <a:prstGeom prst="rect">
            <a:avLst/>
          </a:prstGeom>
          <a:solidFill>
            <a:srgbClr val="9E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E4030"/>
                </a:solidFill>
                <a:latin typeface="Consolas"/>
              </a:rPr>
              <a:t>WHAT IT IS 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9107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Not a dashboard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It produces changes you can apply, not charts you have to interpret.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629107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Not in the request path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It reads traces out of band and never sits between an agent and its provider.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629107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Not an auto-deployer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The output is a proposed change with its evidence. A human decides and applies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FOR AGENT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A change you can apply, with the evidence attached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Nothing to instrument, nothing deployed on your behalf. You get the fix, the proof behind it, and an honest no when there isn't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04288"/>
            <a:ext cx="6035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WHAT LANDS ON YOUR DESK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15184"/>
            <a:ext cx="6035040" cy="475488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734056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handler  ·  cache-prefix reorg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734056"/>
            <a:ext cx="16642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onsolas"/>
              </a:rPr>
              <a:t>RECOMMEND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08960"/>
            <a:ext cx="1280160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1">
                <a:solidFill>
                  <a:srgbClr val="101B1A"/>
                </a:solidFill>
                <a:latin typeface="Segoe UI"/>
              </a:rPr>
              <a:t>Behaviour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39112" y="3108960"/>
            <a:ext cx="1097280" cy="566928"/>
          </a:xfrm>
          <a:prstGeom prst="rect">
            <a:avLst/>
          </a:prstGeom>
          <a:solidFill>
            <a:srgbClr val="0B6B62"/>
          </a:solidFill>
          <a:ln w="9525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SAFE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3108960"/>
            <a:ext cx="3511296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5 genuinely different real inputs, re-run 3× each and judged</a:t>
            </a:r>
          </a:p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against your own recorded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12463"/>
            <a:ext cx="1280160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1">
                <a:solidFill>
                  <a:srgbClr val="101B1A"/>
                </a:solidFill>
                <a:latin typeface="Segoe UI"/>
              </a:rPr>
              <a:t>Caching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39112" y="3712463"/>
            <a:ext cx="1097280" cy="566928"/>
          </a:xfrm>
          <a:prstGeom prst="rect">
            <a:avLst/>
          </a:prstGeom>
          <a:solidFill>
            <a:srgbClr val="DCE9E6"/>
          </a:solidFill>
          <a:ln w="9525">
            <a:solidFill>
              <a:srgbClr val="5E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1">
                <a:solidFill>
                  <a:srgbClr val="0C2320"/>
                </a:solidFill>
                <a:latin typeface="Consolas"/>
              </a:rPr>
              <a:t>PROVEN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9544" y="3712463"/>
            <a:ext cx="3511296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the provider's own billing counter confirmed the new prefix</a:t>
            </a:r>
          </a:p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cached on a live round-trip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15968"/>
            <a:ext cx="1280160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1">
                <a:solidFill>
                  <a:srgbClr val="101B1A"/>
                </a:solidFill>
                <a:latin typeface="Segoe UI"/>
              </a:rPr>
              <a:t>Saving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9112" y="4315968"/>
            <a:ext cx="1097280" cy="566928"/>
          </a:xfrm>
          <a:prstGeom prst="rect">
            <a:avLst/>
          </a:prstGeom>
          <a:solidFill>
            <a:srgbClr val="0B6B62"/>
          </a:solidFill>
          <a:ln w="9525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BOOKED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9544" y="4315968"/>
            <a:ext cx="3511296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priced on the tokens actually recovered, at your call volume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974336"/>
            <a:ext cx="6035040" cy="676656"/>
          </a:xfrm>
          <a:prstGeom prst="rect">
            <a:avLst/>
          </a:prstGeom>
          <a:solidFill>
            <a:srgbClr val="F1F5F4"/>
          </a:solidFill>
          <a:ln w="9525">
            <a:solidFill>
              <a:srgbClr val="C4D1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5102352"/>
            <a:ext cx="5705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Attached: the reworded system prompt, ready to paste · every re-run's output · the judge's reason for each · the before and after cache counters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24144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56664"/>
                </a:solidFill>
                <a:latin typeface="Segoe UI"/>
              </a:rPr>
              <a:t>Illustrative. Field names and verdicts are the real 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304288"/>
            <a:ext cx="9525" cy="3383280"/>
          </a:xfrm>
          <a:prstGeom prst="rect">
            <a:avLst/>
          </a:prstGeom>
          <a:solidFill>
            <a:srgbClr val="D2D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3488" y="2304288"/>
            <a:ext cx="41696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WHY THE YES IS TRUSTWORTHY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670048"/>
            <a:ext cx="416966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Judged against your output, not a benchmark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The reference is what your agent actually produced in production — never a rubric or a score we invented.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3694176"/>
            <a:ext cx="416966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Measured against your model's own noise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We measure how inconsistent your current model is on the same input first, so a cheaper model is never blamed for normal variance.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718304"/>
            <a:ext cx="416966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Unanimous, or it earns nothing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One drifting input pulls the whole call-site out of the total. Split results are reported and counted as zero.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888736"/>
            <a:ext cx="502920" cy="31750"/>
          </a:xfrm>
          <a:prstGeom prst="rect">
            <a:avLst/>
          </a:prstGeom>
          <a:solidFill>
            <a:srgbClr val="8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603504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6A22"/>
                </a:solidFill>
                <a:latin typeface="Consolas"/>
              </a:rPr>
              <a:t>AND THE NO IS USEFUL TOO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29107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Consolas"/>
              </a:rPr>
              <a:t>NOT-SAFE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Names the input that drifted and the judge's reason, so you don't spend a week rediscovering it yourself.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629107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Consolas"/>
              </a:rPr>
              <a:t>TOO-SMALL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Gives the measured static tokens against your model's cache minimum — a fact, not an opinion about your prompt.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629107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Consolas"/>
              </a:rPr>
              <a:t>LOW-EVIDENCE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Fewer than three genuinely distinct inputs, so it abstains rather than generalise from one trace.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808" y="2788920"/>
            <a:ext cx="658368" cy="3810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FBAB0"/>
                </a:solidFill>
                <a:latin typeface="Consolas"/>
              </a:rPr>
              <a:t>INPUT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101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0">
                <a:solidFill>
                  <a:srgbClr val="F9FBFA"/>
                </a:solidFill>
                <a:latin typeface="Georgia"/>
              </a:rPr>
              <a:t>Which inputs we test the change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70832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A9B9B6"/>
                </a:solidFill>
                <a:latin typeface="Segoe UI"/>
              </a:rPr>
              <a:t>Before any lever runs, the auditor picks a handful of real inputs to prove the change on. Pick them wrong and every proof is hollow. Here's how it picks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UNDER EVERY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We prove across the inputs that actually vary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Every dollar rests on a handful of real inputs. We pick them from what changes per call — not the whole prompt — so a rule only some inputs trigger can't slip through as a false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9424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ONE CALL-SITE · THREE REAL CALLS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15184"/>
            <a:ext cx="4160520" cy="566928"/>
          </a:xfrm>
          <a:prstGeom prst="rect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system prompt  ·  8,000 tokens  ·  byte-identical every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2615184"/>
            <a:ext cx="1783080" cy="566928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refund a double</a:t>
            </a:r>
          </a:p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charge, order 4471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91839"/>
            <a:ext cx="4160520" cy="566928"/>
          </a:xfrm>
          <a:prstGeom prst="rect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system prompt  ·  8,000 tokens  ·  byte-identical every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3291839"/>
            <a:ext cx="1783080" cy="566928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app crashes on the</a:t>
            </a:r>
          </a:p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login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68496"/>
            <a:ext cx="4160520" cy="566928"/>
          </a:xfrm>
          <a:prstGeom prst="rect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system prompt  ·  8,000 tokens  ·  byte-identical every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3968496"/>
            <a:ext cx="1783080" cy="566928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delete my data —</a:t>
            </a:r>
          </a:p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GDPR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4626864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9E4030"/>
                </a:solidFill>
                <a:latin typeface="Consolas"/>
              </a:rPr>
              <a:t>↑ all the behaviour is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01184"/>
            <a:ext cx="6080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Compare whole prompts and the 8,000 identical tokens bury the ticket — three different inputs score 99% alike and collapse to one. You'd “prove” the change on a single ticket.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2592" y="2304288"/>
            <a:ext cx="9525" cy="3364992"/>
          </a:xfrm>
          <a:prstGeom prst="rect">
            <a:avLst/>
          </a:prstGeom>
          <a:solidFill>
            <a:srgbClr val="D2D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8352" y="2249424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SO WE SAMPLE THE VARIABLE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487168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01B1A"/>
                </a:solidFill>
                <a:latin typeface="Consolas"/>
              </a:rPr>
              <a:t>1 · byte-match the shared lines   -&gt;   2 · word-overlap &gt;=80% on the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816352"/>
            <a:ext cx="416052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Strip the shared skeleton  (byte-exact)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Keep the lines byte-identical across every call; the per-call remainder is what we test on. The same static/per-call split the levers optimize 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3785616"/>
            <a:ext cx="416052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Dedup by word overlap  (fuzzy, &gt;=80%)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Compare the remainders as WORD SETS, not bytes — so near-duplicates merge and genuinely different inputs stay apart. A rule only some inputs trigger can't be silently dropped.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4754880"/>
            <a:ext cx="416052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One word to a paragraph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Word-overlap works from a single-word label up to a long ticket, or a mix — no shingles to run out of, no embeddings. Deterministic.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88736"/>
            <a:ext cx="502920" cy="31750"/>
          </a:xfrm>
          <a:prstGeom prst="rect">
            <a:avLst/>
          </a:prstGeom>
          <a:solidFill>
            <a:srgbClr val="8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03504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6A22"/>
                </a:solidFill>
                <a:latin typeface="Consolas"/>
              </a:rPr>
              <a:t>THE SAFE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72784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When we can't tell a real variation from noise, we keep it. Testing a redundant real input wastes one call; MISSING a real one would call a change “safe” on an input that never exercised it. Over-sampling is the honest error for a prove-it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LEVER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Cache-prefix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Real prompts scatter fixed rules through per-call content, across both turns. Recovering the prefix is a rewrite, not a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TODAY · ONE CALL-SITE'S PROMPT, LINE BY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15184"/>
            <a:ext cx="219456" cy="274320"/>
          </a:xfrm>
          <a:prstGeom prst="rect">
            <a:avLst/>
          </a:prstGeom>
          <a:solidFill>
            <a:srgbClr val="9E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6" y="2615184"/>
            <a:ext cx="4306824" cy="274320"/>
          </a:xfrm>
          <a:prstGeom prst="rect">
            <a:avLst/>
          </a:prstGeom>
          <a:solidFill>
            <a:srgbClr val="F0E5E2"/>
          </a:solidFill>
          <a:ln w="9525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Session 4f2a-91c7 · 2026-08-09 14:22 UTC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39796"/>
            <a:ext cx="219456" cy="274320"/>
          </a:xfrm>
          <a:prstGeom prst="rect">
            <a:avLst/>
          </a:prstGeom>
          <a:solidFill>
            <a:srgbClr val="93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" y="2939796"/>
            <a:ext cx="4306824" cy="274320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You are a claims triage assistant.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64408"/>
            <a:ext cx="219456" cy="274320"/>
          </a:xfrm>
          <a:prstGeom prst="rect">
            <a:avLst/>
          </a:prstGeom>
          <a:solidFill>
            <a:srgbClr val="93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" y="3264408"/>
            <a:ext cx="4306824" cy="274320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Never disclose internal policy limits.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589020"/>
            <a:ext cx="219456" cy="274320"/>
          </a:xfrm>
          <a:prstGeom prst="rect">
            <a:avLst/>
          </a:prstGeom>
          <a:solidFill>
            <a:srgbClr val="9E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" y="3589020"/>
            <a:ext cx="4306824" cy="274320"/>
          </a:xfrm>
          <a:prstGeom prst="rect">
            <a:avLst/>
          </a:prstGeom>
          <a:solidFill>
            <a:srgbClr val="F0E5E2"/>
          </a:solidFill>
          <a:ln w="9525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Retrieved context: 3 policy 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913631"/>
            <a:ext cx="219456" cy="274320"/>
          </a:xfrm>
          <a:prstGeom prst="rect">
            <a:avLst/>
          </a:prstGeom>
          <a:solidFill>
            <a:srgbClr val="93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" y="3913631"/>
            <a:ext cx="4306824" cy="274320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Classify as: approve / review / deny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4256531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475988"/>
            <a:ext cx="219456" cy="274320"/>
          </a:xfrm>
          <a:prstGeom prst="rect">
            <a:avLst/>
          </a:prstGeom>
          <a:solidFill>
            <a:srgbClr val="9E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" y="4475988"/>
            <a:ext cx="4306824" cy="274320"/>
          </a:xfrm>
          <a:prstGeom prst="rect">
            <a:avLst/>
          </a:prstGeom>
          <a:solidFill>
            <a:srgbClr val="F0E5E2"/>
          </a:solidFill>
          <a:ln w="9525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Customer Priya M. · policy #88213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800600"/>
            <a:ext cx="219456" cy="274320"/>
          </a:xfrm>
          <a:prstGeom prst="rect">
            <a:avLst/>
          </a:prstGeom>
          <a:solidFill>
            <a:srgbClr val="93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" y="4800600"/>
            <a:ext cx="4306824" cy="274320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Always cite the clause you relied 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25212"/>
            <a:ext cx="219456" cy="274320"/>
          </a:xfrm>
          <a:prstGeom prst="rect">
            <a:avLst/>
          </a:prstGeom>
          <a:solidFill>
            <a:srgbClr val="9E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" y="5125212"/>
            <a:ext cx="4306824" cy="274320"/>
          </a:xfrm>
          <a:prstGeom prst="rect">
            <a:avLst/>
          </a:prstGeom>
          <a:solidFill>
            <a:srgbClr val="F0E5E2"/>
          </a:solidFill>
          <a:ln w="9525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“My claim was rejected — why?”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0468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Byte-comparison tags every line across the sampled calls. Fixed content is scattered — and some of it sits in the user turn.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532120" y="3749039"/>
            <a:ext cx="566928" cy="438912"/>
          </a:xfrm>
          <a:prstGeom prst="rightArrow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2212848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AFTER · THE MODEL WRITES ONE CONTIGUOUS PREFIX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615184"/>
            <a:ext cx="5029200" cy="1225296"/>
          </a:xfrm>
          <a:prstGeom prst="rect">
            <a:avLst/>
          </a:prstGeom>
          <a:solidFill>
            <a:srgbClr val="0B6B62"/>
          </a:solidFill>
          <a:ln w="12700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You are a claims triage assistant.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Never disclose internal policy limits.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Classify as: approve / review / deny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Always cite the clause you relied on.   (hoisted out of the user turn)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91363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Segoe UI"/>
              </a:rPr>
              <a:t>CACHED — byte-identical every call, billed at about a tenth of the rate.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4261104"/>
            <a:ext cx="5029200" cy="1225296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Session 4f2a-91c7 · 2026-08-09 14:22 UTC</a:t>
            </a:r>
          </a:p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Retrieved context: 3 policy documents</a:t>
            </a:r>
          </a:p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Customer Priya M. · policy #88213</a:t>
            </a:r>
          </a:p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“My claim was rejected — why?”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55955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E4030"/>
                </a:solidFill>
                <a:latin typeface="Segoe UI"/>
              </a:rPr>
              <a:t>PER-CALL — moved below the prefix, verbatim. Never regenerated.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44768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01B1A"/>
                </a:solidFill>
                <a:latin typeface="Segoe UI"/>
              </a:rPr>
              <a:t>Byte-comparison holds the veto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A line may only be hoisted if comparison independently proves it fixed. The model cannot promote a line that varies.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6144768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01B1A"/>
                </a:solidFill>
                <a:latin typeface="Segoe UI"/>
              </a:rPr>
              <a:t>The model rewrites, minimally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It may reword for coherence once per-call content sits below — “the context above” becomes “below” — but may not change any rule.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55864" y="6144768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01B1A"/>
                </a:solidFill>
                <a:latin typeface="Segoe UI"/>
              </a:rPr>
              <a:t>Entangled content is left alone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Where fixed rules are tangled with per-call instructions, it keeps a smaller, correct prefix rather than a larger wrong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LEVER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Model-tier downgrade,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The cheaper model is measured against your current model's own inconsistency — not against perfection.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0">
                <a:solidFill>
                  <a:srgbClr val="101B1A"/>
                </a:solidFill>
                <a:latin typeface="Segoe UI"/>
              </a:rPr>
              <a:t>5 genuinely different</a:t>
            </a:r>
          </a:p>
          <a:p>
            <a:pPr algn="ctr"/>
            <a:r>
              <a:rPr sz="1100" b="0">
                <a:solidFill>
                  <a:srgbClr val="101B1A"/>
                </a:solidFill>
                <a:latin typeface="Segoe UI"/>
              </a:rPr>
              <a:t>real recorded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3317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DCE9E6"/>
          </a:solidFill>
          <a:ln w="12700">
            <a:solidFill>
              <a:srgbClr val="5E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0">
                <a:solidFill>
                  <a:srgbClr val="0C2320"/>
                </a:solidFill>
                <a:latin typeface="Segoe UI"/>
              </a:rPr>
              <a:t>Re-run each on the</a:t>
            </a:r>
          </a:p>
          <a:p>
            <a:pPr algn="ctr"/>
            <a:r>
              <a:rPr sz="1100" b="0">
                <a:solidFill>
                  <a:srgbClr val="0C2320"/>
                </a:solidFill>
                <a:latin typeface="Segoe UI"/>
              </a:rPr>
              <a:t>CHEAPER model · 3×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3317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E6E1F0"/>
          </a:solidFill>
          <a:ln w="12700">
            <a:solidFill>
              <a:srgbClr val="6B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0">
                <a:solidFill>
                  <a:srgbClr val="1E1830"/>
                </a:solidFill>
                <a:latin typeface="Segoe UI"/>
              </a:rPr>
              <a:t>Judge vs the recorded</a:t>
            </a:r>
          </a:p>
          <a:p>
            <a:pPr algn="ctr"/>
            <a:r>
              <a:rPr sz="1100" b="0">
                <a:solidFill>
                  <a:srgbClr val="1E1830"/>
                </a:solidFill>
                <a:latin typeface="Segoe UI"/>
              </a:rPr>
              <a:t>production output</a:t>
            </a:r>
          </a:p>
        </p:txBody>
      </p:sp>
      <p:sp>
        <p:nvSpPr>
          <p:cNvPr id="9" name="Diamond 8"/>
          <p:cNvSpPr/>
          <p:nvPr/>
        </p:nvSpPr>
        <p:spPr>
          <a:xfrm>
            <a:off x="7086600" y="2194560"/>
            <a:ext cx="1920240" cy="1325880"/>
          </a:xfrm>
          <a:prstGeom prst="diamond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Held on every</a:t>
            </a:r>
          </a:p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single re-run?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233172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0B6B62"/>
          </a:solidFill>
          <a:ln w="12700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SAFE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dollars booked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06908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DCE9E6"/>
          </a:solidFill>
          <a:ln w="12700">
            <a:solidFill>
              <a:srgbClr val="5E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0">
                <a:solidFill>
                  <a:srgbClr val="0C2320"/>
                </a:solidFill>
                <a:latin typeface="Segoe UI"/>
              </a:rPr>
              <a:t>NOISE FLOOR: re-run the</a:t>
            </a:r>
          </a:p>
          <a:p>
            <a:pPr algn="ctr"/>
            <a:r>
              <a:rPr sz="1100" b="0">
                <a:solidFill>
                  <a:srgbClr val="0C2320"/>
                </a:solidFill>
                <a:latin typeface="Segoe UI"/>
              </a:rPr>
              <a:t>ORIGINAL model on itself</a:t>
            </a:r>
          </a:p>
        </p:txBody>
      </p:sp>
      <p:sp>
        <p:nvSpPr>
          <p:cNvPr id="12" name="Diamond 11"/>
          <p:cNvSpPr/>
          <p:nvPr/>
        </p:nvSpPr>
        <p:spPr>
          <a:xfrm>
            <a:off x="7086600" y="3931920"/>
            <a:ext cx="1920240" cy="1325880"/>
          </a:xfrm>
          <a:prstGeom prst="diamond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As steady as</a:t>
            </a:r>
          </a:p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the original?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406908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1">
                <a:solidFill>
                  <a:srgbClr val="3A1710"/>
                </a:solidFill>
                <a:latin typeface="Segoe UI"/>
              </a:rPr>
              <a:t>NOT-SAFE</a:t>
            </a:r>
          </a:p>
          <a:p>
            <a:pPr algn="ctr"/>
            <a:r>
              <a:rPr sz="1100" b="0">
                <a:solidFill>
                  <a:srgbClr val="3A1710"/>
                </a:solidFill>
                <a:latin typeface="Segoe UI"/>
              </a:rPr>
              <a:t>zero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2857500"/>
            <a:ext cx="2743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2857500"/>
            <a:ext cx="2743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12280" y="2857500"/>
            <a:ext cx="2743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06840" y="2857500"/>
            <a:ext cx="41148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01100" y="258318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0B6B62"/>
                </a:solidFill>
                <a:latin typeface="Consolas"/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46720" y="3520439"/>
            <a:ext cx="0" cy="246889"/>
          </a:xfrm>
          <a:prstGeom prst="line">
            <a:avLst/>
          </a:prstGeom>
          <a:ln w="15875">
            <a:solidFill>
              <a:srgbClr val="5E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532120" y="3767328"/>
            <a:ext cx="2514600" cy="0"/>
          </a:xfrm>
          <a:prstGeom prst="line">
            <a:avLst/>
          </a:prstGeom>
          <a:ln w="15875">
            <a:solidFill>
              <a:srgbClr val="5E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32120" y="3767328"/>
            <a:ext cx="0" cy="301752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68896" y="360273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9E4030"/>
                </a:solidFill>
                <a:latin typeface="Consolas"/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0" y="4594860"/>
            <a:ext cx="5029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06840" y="4594860"/>
            <a:ext cx="41148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801100" y="432054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9E4030"/>
                </a:solidFill>
                <a:latin typeface="Consolas"/>
              </a:rPr>
              <a:t>no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046720" y="3383279"/>
            <a:ext cx="2194560" cy="548641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06840" y="36576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0B6B62"/>
                </a:solidFill>
                <a:latin typeface="Consolas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870448"/>
            <a:ext cx="137160" cy="137160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5256" y="58521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Deterministic · free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5870448"/>
            <a:ext cx="137160" cy="137160"/>
          </a:xfrm>
          <a:prstGeom prst="rect">
            <a:avLst/>
          </a:prstGeom>
          <a:solidFill>
            <a:srgbClr val="DCE9E6"/>
          </a:solidFill>
          <a:ln w="9525">
            <a:solidFill>
              <a:srgbClr val="5E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18104" y="58521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Live provider call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11496" y="5870448"/>
            <a:ext cx="137160" cy="137160"/>
          </a:xfrm>
          <a:prstGeom prst="rect">
            <a:avLst/>
          </a:prstGeom>
          <a:solidFill>
            <a:srgbClr val="E6E1F0"/>
          </a:solidFill>
          <a:ln w="9525">
            <a:solidFill>
              <a:srgbClr val="6B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30952" y="58521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AI judgement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24344" y="5870448"/>
            <a:ext cx="137160" cy="137160"/>
          </a:xfrm>
          <a:prstGeom prst="rect">
            <a:avLst/>
          </a:prstGeom>
          <a:solidFill>
            <a:srgbClr val="0B6B62"/>
          </a:solidFill>
          <a:ln w="9525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43800" y="58521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Proven · counted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37192" y="5870448"/>
            <a:ext cx="137160" cy="137160"/>
          </a:xfrm>
          <a:prstGeom prst="rect">
            <a:avLst/>
          </a:prstGeom>
          <a:solidFill>
            <a:srgbClr val="F0E5E2"/>
          </a:solidFill>
          <a:ln w="9525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56648" y="58521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Zero · shown anyway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32764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56664"/>
                </a:solidFill>
                <a:latin typeface="Segoe UI"/>
              </a:rPr>
              <a:t>Large models are not deterministic. Scoring the cheaper model 2-of-3 means nothing until you know your current model also scores 2-of-3 on that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LEVER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Input compression,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The same proof engine, a new transform — and a loop that backs off rather than giving up when the first cut is too deep.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0">
                <a:solidFill>
                  <a:srgbClr val="101B1A"/>
                </a:solidFill>
                <a:latin typeface="Segoe UI"/>
              </a:rPr>
              <a:t>One call-site's</a:t>
            </a:r>
          </a:p>
          <a:p>
            <a:pPr algn="ctr"/>
            <a:r>
              <a:rPr sz="1100" b="0">
                <a:solidFill>
                  <a:srgbClr val="101B1A"/>
                </a:solidFill>
                <a:latin typeface="Segoe UI"/>
              </a:rPr>
              <a:t>system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3317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E6E1F0"/>
          </a:solidFill>
          <a:ln w="12700">
            <a:solidFill>
              <a:srgbClr val="6B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0">
                <a:solidFill>
                  <a:srgbClr val="1E1830"/>
                </a:solidFill>
                <a:latin typeface="Segoe UI"/>
              </a:rPr>
              <a:t>COMPRESS · abstractive</a:t>
            </a:r>
          </a:p>
          <a:p>
            <a:pPr algn="ctr"/>
            <a:r>
              <a:rPr sz="1100" b="0">
                <a:solidFill>
                  <a:srgbClr val="1E1830"/>
                </a:solidFill>
                <a:latin typeface="Segoe UI"/>
              </a:rPr>
              <a:t>aim: half the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3317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DCE9E6"/>
          </a:solidFill>
          <a:ln w="12700">
            <a:solidFill>
              <a:srgbClr val="5E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0">
                <a:solidFill>
                  <a:srgbClr val="0C2320"/>
                </a:solidFill>
                <a:latin typeface="Segoe UI"/>
              </a:rPr>
              <a:t>Judge vs the recorded</a:t>
            </a:r>
          </a:p>
          <a:p>
            <a:pPr algn="ctr"/>
            <a:r>
              <a:rPr sz="1100" b="0">
                <a:solidFill>
                  <a:srgbClr val="0C2320"/>
                </a:solidFill>
                <a:latin typeface="Segoe UI"/>
              </a:rPr>
              <a:t>production output</a:t>
            </a:r>
          </a:p>
        </p:txBody>
      </p:sp>
      <p:sp>
        <p:nvSpPr>
          <p:cNvPr id="9" name="Diamond 8"/>
          <p:cNvSpPr/>
          <p:nvPr/>
        </p:nvSpPr>
        <p:spPr>
          <a:xfrm>
            <a:off x="7086600" y="2194560"/>
            <a:ext cx="1920240" cy="1325880"/>
          </a:xfrm>
          <a:prstGeom prst="diamond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Held on every</a:t>
            </a:r>
          </a:p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single re-run?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233172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0B6B62"/>
          </a:solidFill>
          <a:ln w="12700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SAFE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dollars booked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06908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6E1F0"/>
          </a:solidFill>
          <a:ln w="12700">
            <a:solidFill>
              <a:srgbClr val="6B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0">
                <a:solidFill>
                  <a:srgbClr val="1E1830"/>
                </a:solidFill>
                <a:latin typeface="Segoe UI"/>
              </a:rPr>
              <a:t>BACK OFF · surgical</a:t>
            </a:r>
          </a:p>
          <a:p>
            <a:pPr algn="ctr"/>
            <a:r>
              <a:rPr sz="1100" b="0">
                <a:solidFill>
                  <a:srgbClr val="1E1830"/>
                </a:solidFill>
                <a:latin typeface="Segoe UI"/>
              </a:rPr>
              <a:t>steered by the named</a:t>
            </a:r>
          </a:p>
          <a:p>
            <a:pPr algn="ctr"/>
            <a:r>
              <a:rPr sz="1100" b="0">
                <a:solidFill>
                  <a:srgbClr val="1E1830"/>
                </a:solidFill>
                <a:latin typeface="Segoe UI"/>
              </a:rPr>
              <a:t>drift reason</a:t>
            </a:r>
          </a:p>
        </p:txBody>
      </p:sp>
      <p:sp>
        <p:nvSpPr>
          <p:cNvPr id="12" name="Diamond 11"/>
          <p:cNvSpPr/>
          <p:nvPr/>
        </p:nvSpPr>
        <p:spPr>
          <a:xfrm>
            <a:off x="7086600" y="3931920"/>
            <a:ext cx="1920240" cy="1325880"/>
          </a:xfrm>
          <a:prstGeom prst="diamond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Safe on the</a:t>
            </a:r>
          </a:p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gentler cut?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406908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1">
                <a:solidFill>
                  <a:srgbClr val="3A1710"/>
                </a:solidFill>
                <a:latin typeface="Segoe UI"/>
              </a:rPr>
              <a:t>NOT-SAFE</a:t>
            </a:r>
          </a:p>
          <a:p>
            <a:pPr algn="ctr"/>
            <a:r>
              <a:rPr sz="1100" b="0">
                <a:solidFill>
                  <a:srgbClr val="3A1710"/>
                </a:solidFill>
                <a:latin typeface="Segoe UI"/>
              </a:rPr>
              <a:t>nothing booked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2857500"/>
            <a:ext cx="2743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2857500"/>
            <a:ext cx="2743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12280" y="2857500"/>
            <a:ext cx="2743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06840" y="2857500"/>
            <a:ext cx="41148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01100" y="258318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0B6B62"/>
                </a:solidFill>
                <a:latin typeface="Consolas"/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46720" y="3520439"/>
            <a:ext cx="0" cy="246889"/>
          </a:xfrm>
          <a:prstGeom prst="line">
            <a:avLst/>
          </a:prstGeom>
          <a:ln w="15875">
            <a:solidFill>
              <a:srgbClr val="5E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532120" y="3767328"/>
            <a:ext cx="2514600" cy="0"/>
          </a:xfrm>
          <a:prstGeom prst="line">
            <a:avLst/>
          </a:prstGeom>
          <a:ln w="15875">
            <a:solidFill>
              <a:srgbClr val="5E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32120" y="3767328"/>
            <a:ext cx="0" cy="301752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68896" y="360273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9E4030"/>
                </a:solidFill>
                <a:latin typeface="Consolas"/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0" y="4594860"/>
            <a:ext cx="5029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06840" y="4594860"/>
            <a:ext cx="41148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801100" y="432054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9E4030"/>
                </a:solidFill>
                <a:latin typeface="Consolas"/>
              </a:rPr>
              <a:t>no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046720" y="3383279"/>
            <a:ext cx="2194560" cy="548641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06840" y="36576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0B6B62"/>
                </a:solidFill>
                <a:latin typeface="Consolas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7607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90702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THREE GUARDS, IN ORDER OF AUTHORITY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81344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The compressor is preservation-first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Every rule, threshold, code, tool name and heading stays verbatim. Only non-rule prose — rationale, examples — may be reworded.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6181344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A coverage gate, before any spend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The rewrite is thrown away unless it is genuinely shorter and every locked literal survives word for word.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5864" y="6181344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The proof has the last word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A cut that changes behaviour is discarded and its drift reason steers the gentler retry. Dollars only on a unanimous SAFE.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PRODUCTION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Cortex's shape defeats two of the three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Not a limit of the engine. Each lever needs a particular prompt shape, and our only production agent has neither of the two that suit caching or downgrade.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0428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WHICH SHAPE EACH LEVER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4872" y="2560320"/>
            <a:ext cx="2249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7176" y="2560320"/>
            <a:ext cx="2249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CORTEX SUPERVISOR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798064"/>
            <a:ext cx="1572768" cy="841248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CACHING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Segoe UI"/>
              </a:rPr>
              <a:t>shipped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4872" y="2798064"/>
            <a:ext cx="2249424" cy="84124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50" b="0">
                <a:solidFill>
                  <a:srgbClr val="101B1A"/>
                </a:solidFill>
                <a:latin typeface="Segoe UI"/>
              </a:rPr>
              <a:t>A large prefix that repeats byte-for-byte across calls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37176" y="2798064"/>
            <a:ext cx="2249424" cy="841248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lang="en-IN" sz="950" b="0" dirty="0">
                <a:solidFill>
                  <a:srgbClr val="3A1710"/>
                </a:solidFill>
                <a:latin typeface="Segoe UI"/>
              </a:rPr>
              <a:t>RAG-assembled</a:t>
            </a:r>
            <a:r>
              <a:rPr sz="950" b="0" dirty="0">
                <a:solidFill>
                  <a:srgbClr val="3A1710"/>
                </a:solidFill>
                <a:latin typeface="Segoe UI"/>
              </a:rPr>
              <a:t>. The static that survives must clear 1,024–4,096 tokens to cache at 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49039"/>
            <a:ext cx="1572768" cy="841248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DOWNGRADE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Segoe UI"/>
              </a:rPr>
              <a:t>shipped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3749039"/>
            <a:ext cx="2249424" cy="84124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50" b="0">
                <a:solidFill>
                  <a:srgbClr val="101B1A"/>
                </a:solidFill>
                <a:latin typeface="Segoe UI"/>
              </a:rPr>
              <a:t>One model, bounded work, at a single call-site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37176" y="3749039"/>
            <a:ext cx="2249424" cy="841248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Routed across tiers, so the detector skips it by design.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00016"/>
            <a:ext cx="1572768" cy="841248"/>
          </a:xfrm>
          <a:prstGeom prst="rect">
            <a:avLst/>
          </a:prstGeom>
          <a:solidFill>
            <a:srgbClr val="8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COMPRESSION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Segoe UI"/>
              </a:rPr>
              <a:t>shipped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04872" y="4700016"/>
            <a:ext cx="2249424" cy="84124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50" b="0">
                <a:solidFill>
                  <a:srgbClr val="101B1A"/>
                </a:solidFill>
                <a:latin typeface="Segoe UI"/>
              </a:rPr>
              <a:t>A large prompt that changes on every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37176" y="4700016"/>
            <a:ext cx="2249424" cy="841248"/>
          </a:xfrm>
          <a:prstGeom prst="rect">
            <a:avLst/>
          </a:prstGeom>
          <a:solidFill>
            <a:srgbClr val="F2EBDA"/>
          </a:solidFill>
          <a:ln w="12700">
            <a:solidFill>
              <a:srgbClr val="8A6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950" b="0">
                <a:solidFill>
                  <a:srgbClr val="2E2408"/>
                </a:solidFill>
                <a:latin typeface="Segoe UI"/>
              </a:rPr>
              <a:t>The lever that matches this shape. Whether it reaches Cortex is not yet measured.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24927" y="2304288"/>
            <a:ext cx="9525" cy="3364992"/>
          </a:xfrm>
          <a:prstGeom prst="rect">
            <a:avLst/>
          </a:prstGeom>
          <a:solidFill>
            <a:srgbClr val="D2D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0688" y="2304288"/>
            <a:ext cx="37124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E4030"/>
                </a:solidFill>
                <a:latin typeface="Consolas"/>
              </a:rPr>
              <a:t>THE PRODUCTION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2798064"/>
            <a:ext cx="3712463" cy="1060704"/>
          </a:xfrm>
          <a:prstGeom prst="roundRect">
            <a:avLst>
              <a:gd name="adj" fmla="val 8000"/>
            </a:avLst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3A1710"/>
                </a:solidFill>
                <a:latin typeface="Segoe UI"/>
              </a:rPr>
              <a:t>supervisor</a:t>
            </a:r>
          </a:p>
          <a:p>
            <a:pPr algn="ctr"/>
            <a:r>
              <a:rPr sz="950" b="0">
                <a:solidFill>
                  <a:srgbClr val="3A1710"/>
                </a:solidFill>
                <a:latin typeface="Segoe UI"/>
              </a:rPr>
              <a:t>routed + RAG-assembled</a:t>
            </a:r>
          </a:p>
          <a:p>
            <a:pPr algn="ctr"/>
            <a:r>
              <a:rPr sz="950" b="0">
                <a:solidFill>
                  <a:srgbClr val="3A1710"/>
                </a:solidFill>
                <a:latin typeface="Segoe UI"/>
              </a:rPr>
              <a:t>both shipped levers 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0688" y="4005072"/>
            <a:ext cx="3712463" cy="1060704"/>
          </a:xfrm>
          <a:prstGeom prst="roundRect">
            <a:avLst>
              <a:gd name="adj" fmla="val 8000"/>
            </a:avLst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101B1A"/>
                </a:solidFill>
                <a:latin typeface="Segoe UI"/>
              </a:rPr>
              <a:t>create ticket</a:t>
            </a:r>
          </a:p>
          <a:p>
            <a:pPr algn="ctr"/>
            <a:r>
              <a:rPr sz="950" b="0">
                <a:solidFill>
                  <a:srgbClr val="101B1A"/>
                </a:solidFill>
                <a:latin typeface="Segoe UI"/>
              </a:rPr>
              <a:t>small prompt</a:t>
            </a:r>
          </a:p>
          <a:p>
            <a:pPr algn="ctr"/>
            <a:r>
              <a:rPr sz="950" b="0">
                <a:solidFill>
                  <a:srgbClr val="101B1A"/>
                </a:solidFill>
                <a:latin typeface="Segoe UI"/>
              </a:rPr>
              <a:t>limited ceiling either 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5212080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Two call-sites carry a prompt and a token count. The larger has no surface for the levers we ship today.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888736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603504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WHERE THAT LEAVES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321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Compression is the lever to point at Cortex next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It is shipped, it targets exactly this shape, and it has a second mode that rewrites retrieved documents without dropping any. It has not been run here yet.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6291072"/>
            <a:ext cx="5321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Non-production agents carry the validation today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Apex and the others are where the levers are exercised. Their traffic is not production traffic and we will not present it as such.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2080</Words>
  <Application>Microsoft Office PowerPoint</Application>
  <PresentationFormat>Widescreen</PresentationFormat>
  <Paragraphs>229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Gladius Thayalarajan</cp:lastModifiedBy>
  <cp:revision>1</cp:revision>
  <dcterms:created xsi:type="dcterms:W3CDTF">2013-01-27T09:14:16Z</dcterms:created>
  <dcterms:modified xsi:type="dcterms:W3CDTF">2026-08-11T12:09:20Z</dcterms:modified>
  <cp:category/>
</cp:coreProperties>
</file>